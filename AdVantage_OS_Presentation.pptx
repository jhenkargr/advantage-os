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STAGE 01 :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926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18CF8"/>
                </a:solidFill>
              </a:defRPr>
            </a:pPr>
            <a:r>
              <a:t>AdVantage OS |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Requirement Specifications &amp; Domain Problem Statement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Bridging hyper-local social micro-trends with physical store execution and zero-marginal-cost marketing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316382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DOMAIN PROBLEM STATEMENT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1. SME Operational Vulnerabilities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•  The Flatline Trap in Trend Forecasting: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Standard regressors trained on raw non-stationary levels exhibit &gt;99.5% lag_1 collinearity, causing 30-day recursive forecasts to collapse into flatlines.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•  Sparse &amp; Intermittent Retail Demand: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SME sales feature zero-demand on 60%+ of days. Moving averages fail on bursty count distributions, triggering costly stockouts or dead inventory.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•  Disconnected Marketing &amp; Stockouts: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Promotional campaigns run blind to store stock. Advertising newly trending products without inventory alignment causes immediate stockouts and wasted ad spend.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•  Manual Ingestion Friction: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SMEs rely on paper receipts, thermal slips, and manual ledger entry, creating 7+ day operational data lags without costly RFID/enterprise POS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931920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1463040"/>
            <a:ext cx="371246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SYSTEM FUNCTIONAL SCOPE (FR)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2. Core Functional Requirements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 FR1: Multi-Source Social Ingestion &amp; NLP: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Concurrently harvest Twitter/X &amp; Reddit; filter topic noise via Cohere LLM; compute dual sentiment (70% DistilBERT + 30% VADER).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 FR2: Stationary Velocity Trend Forecaster: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Predict daily velocity differencing (Δy_t) over 30 days with momentum damping (φ=0.97^(t-1)) and expanding 95% confidence intervals.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 FR3: Autonomous Intermittent Demand Engine: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50/50 blend of Poisson HistGBR and Teunter-Syntetos-Babai (TSB) with stockout masking to calculate Safety Stock (SS) &amp; Reorder Point (ROP).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 FR4: Edge Computer Vision Receipt Ingestion: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Camera-based invoice capture; Tesseract OCR + dual SequenceMatcher/token overlap fuzzy SKU reconciliation to update inventory ledgers.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 FR5: Multimodal Generative Creative Studio: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One-click text-to-image synthesis (NVIDIA SDXL/Flux) + sub-second ad copy &amp; hashtags (Groq LLaMA-3.3-70b) + K-Means influencer discovery.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 FR6: Proactive Closed-Loop Alerting: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Continuous cross-domain monitor firing automated WhatsApp notifications when social velocity accelerates as stock approaches ROP.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371600"/>
            <a:ext cx="3017520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463040"/>
            <a:ext cx="279806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CONSTRAINTS &amp; QUALITY ATTRIBUTES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3. Non-Functional Specifications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•  Sub-Second Inference Speed: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Marketing ad copy generated in &lt;1.0s via Groq LLaMA-3.3-70b; trend forecasts generated in &lt;200ms.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•  Zero-Disk Cloud Persistence: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Serialized 894 KB model weights stored as BLOBs in Neon PostgreSQL ml_models table; in-memory hydration on cold boot in &lt;350ms.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•  High Service Level Target: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Calculate dynamic safety stock maintaining &gt;=95% customer service level (Z=1.645) with rolling volatility.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•  Graceful Multi-Tier Fallbacks: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Automatic degradation: Pollinations AI for images, synthetic keyword fallback for social feeds, SQLite for local testing.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•  Enterprise Modularity &amp; Security: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   Decoupled FastAPI REST microservices, Pydantic v2 validation, CORS origin isolation, and secure environment vaults.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STAGE 02 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926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18CF8"/>
                </a:solidFill>
              </a:defRPr>
            </a:pPr>
            <a:r>
              <a:t>AdVantage OS |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System Architecture &amp; Closed-Loop Operational Topology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Bi-directional pipeline synchronizing live social listening, velocity forecasting, inventory, GenAI &amp; edge OCR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583680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system_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4008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Figure 1: AdVantage OS Closed-Loop Operational Architecture &amp; Bi-Directional Subsystems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71600"/>
            <a:ext cx="3931920" cy="283464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7" y="1463040"/>
            <a:ext cx="37124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SUBSYSTEM TAXONOMY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Layered System Decomposition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• Presentation Layer (React 19 + TypeScript + Vite 8.3): Glassmorphic Executive Dashboard, Canvas 95% CI trend trajectories, stock ROP bar charts, and sales donut visualizers.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• Application Gateway (FastAPI Async ASGI): Lifespan event manager, DB auto-migrations, memory model hydration, and unified REST endpoints (/predict, /api/demand, /api/inventory).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• Applied AI &amp; Analytics Engines: TrendForecastingModel_v2 (Delta Ensemble), 70/30 DistilBERT/VADER sentiment, Poisson HistGBR + TSB demand planner, K-Means creator matcher.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• Generative AI &amp; LLM Cluster: NVIDIA API Catalog (SDXL/Flux), Groq LLaMA-3.3-70b (&lt;1s copywriter), Cohere Command-R+, Pollinations AI fallback.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• Cloud Persistence &amp; Sync: Neon Serverless PostgreSQL (pooled), zero-disk BLOB model synchronization, local SQLite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343400"/>
            <a:ext cx="3931920" cy="2057400"/>
          </a:xfrm>
          <a:prstGeom prst="roundRect">
            <a:avLst/>
          </a:prstGeom>
          <a:solidFill>
            <a:srgbClr val="19223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4434840"/>
            <a:ext cx="371246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SELF-CORRECTING ARBITRAGE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The Autonomous Closed-Loop Engine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▶ 1. Social Sensing: Harvest Twitter/Reddit signals -&gt; filter with Cohere -&gt; compute dual sentiment.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▶ 2. Velocity Forecasting: Forecast 30-day adoption trajectory with momentum damping φ=0.97.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▶ 3. Retail Replenishment: Align trend velocity with physical stock -&gt; compute Safety Stock &amp; ROP.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▶ 4. Multimodal Generation: Synthesize ad visuals &amp; LLaMA-3.3 ad copy for top trending items.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▶ 5. Point-of-Sale Edge OCR: Scan physical receipts via mobile camera -&gt; update inventory ledger.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▶ 6. Proactive Stockout Protection: Auto-suppress ad campaigns &amp; send WhatsApp alerts if stock drops near ROP.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STAGE 03 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926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18CF8"/>
                </a:solidFill>
              </a:defRPr>
            </a:pPr>
            <a:r>
              <a:t>AdVantage OS |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Implementation &amp; Engineering Methodology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Applied mathematical formulations, ML algorithmic pipelines, and full-stack software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840480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362102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CORE ALGORITHMS &amp; FORMULATIONS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1. Mathematical Formulations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Velocity Differencing Core (Overcoming Flatline):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Δy_t = y_t - y_{t-1}</a:t>
            </a:r>
            <a:br/>
            <a:r>
              <a:t>Instead of regressing on raw levels (where lag_1 has 99.5% collinearity), the model predicts rate-of-change velocity across multi-step recursions.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Momentum Damping &amp; Confidence Bounds: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Δ_{combined, t} = (0.65 · Δ_{ML, t} + 0.35 · slope_{observed}) · φ^{t-1}</a:t>
            </a:r>
            <a:br/>
            <a:r>
              <a:t>Empirical damping factor φ = 0.97 simulates natural consumer adoption S-curves. Trajectory bounded by expanding 95% CI: ±1.96 · σ · √(t / 3.0).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Blended Poisson-TSB Retail Replenishment: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Intermittent sales modeled via 50/50 blend of HistGBR (Poisson count loss) + Teunter-Syntetos-Babai (TSB) separating demand probability updating (p_t) and demand size updating (z_t).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Dynamic Safety Stock &amp; Stockout Masking: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Safety Stock SS = ⌈1.645 · σ_{56} · √L⌉, ROP = ⌈d · L + SS⌉</a:t>
            </a:r>
            <a:br/>
            <a:r>
              <a:t>Stockout Masking: Freezes demand estimation when stock=0 to eliminate artificial zero-sales deflation.</a:t>
            </a:r>
          </a:p>
          <a:p>
            <a:pPr>
              <a:defRPr sz="950" b="1">
                <a:solidFill>
                  <a:srgbClr val="38BDF8"/>
                </a:solidFill>
              </a:defRPr>
            </a:pPr>
            <a:r>
              <a:t>• Dual Computer Vision Fuzzy Alignment: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Score = max(Ratio_{seq}, 0.5 · Ratio_{seq} + 0.5 · Overlap_{tokens})</a:t>
            </a:r>
            <a:br/>
            <a:r>
              <a:t>Boosted by 0.85 exact substring matching; threshold &gt;= 0.40 reconciles noisy OCR text to product catalog.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749039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4608" y="1463040"/>
            <a:ext cx="3529583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APPLIED PIPELINES &amp; SERVICES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2. Subsystem Implementations</a:t>
            </a:r>
          </a:p>
          <a:p>
            <a:pPr>
              <a:defRPr sz="950" b="1">
                <a:solidFill>
                  <a:srgbClr val="818CF8"/>
                </a:solidFill>
              </a:defRPr>
            </a:pPr>
            <a:r>
              <a:t>• Zero-Disk Cloud Database Model Hydration: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Model weights (894 KB serialized .pkl bundle) are stored directly inside Neon PostgreSQL ml_models table as BLOBs. On server boot, lifespan hook loads weights into RAM in &lt;350ms, enabling zero-disk serverless deployment.</a:t>
            </a:r>
          </a:p>
          <a:p>
            <a:pPr>
              <a:defRPr sz="950" b="1">
                <a:solidFill>
                  <a:srgbClr val="818CF8"/>
                </a:solidFill>
              </a:defRPr>
            </a:pPr>
            <a:r>
              <a:t>• Dual Ensemble Sentiment Pipeline: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Combines 70% deep contextual transformer polarity (DistilBERT fine-tuned on SST-2) with 30% lexical heuristic rules (VADER) to accurately score informal social slang, punctuation, and emojis.</a:t>
            </a:r>
          </a:p>
          <a:p>
            <a:pPr>
              <a:defRPr sz="950" b="1">
                <a:solidFill>
                  <a:srgbClr val="818CF8"/>
                </a:solidFill>
              </a:defRPr>
            </a:pPr>
            <a:r>
              <a:t>• Generative Multimodal Studio: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Connects trending keywords to NVIDIA API Catalog (SDXL / Flux.1-dev) for product imagery, and Groq Cloud (LLaMA-3.3-70b-versatile) for &lt;1s high-converting ad copy and hashtags.</a:t>
            </a:r>
          </a:p>
          <a:p>
            <a:pPr>
              <a:defRPr sz="950" b="1">
                <a:solidFill>
                  <a:srgbClr val="818CF8"/>
                </a:solidFill>
              </a:defRPr>
            </a:pPr>
            <a:r>
              <a:t>• Micro-Influencer Discovery Engine: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Scrapes creator profiles into 4D feature vectors (subscribers, views, engagement rate, keyword affinity). Applies K-Means clustering and rule-based bot fraud filters.</a:t>
            </a:r>
          </a:p>
          <a:p>
            <a:pPr>
              <a:defRPr sz="950" b="1">
                <a:solidFill>
                  <a:srgbClr val="818CF8"/>
                </a:solidFill>
              </a:defRPr>
            </a:pPr>
            <a:r>
              <a:t>• Edge Computer Vision Receipt Scanner:</a:t>
            </a:r>
          </a:p>
          <a:p>
            <a:pPr>
              <a:defRPr sz="819">
                <a:solidFill>
                  <a:srgbClr val="CBD5E1"/>
                </a:solidFill>
              </a:defRPr>
            </a:pPr>
            <a:r>
              <a:t>   Pytesseract 5.x wrapper + PIL preprocessing (grayscale, contrast boost, adaptive thresholding) extracts tabular receipt data with zero manual bookkeeping.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371600"/>
            <a:ext cx="2743200" cy="50292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1463040"/>
            <a:ext cx="252374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PRODUCTION TOOLING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3. Software Stack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• Backend Services: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   Python 3.10+, FastAPI 0.143, Uvicorn ASGI, Pydantic v2 schemas, SQLAlchemy 2.1 ORM, Alembic migrations.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• Machine Learning &amp; AI: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   Scikit-learn 1.9, PyTorch 2.12, Hugging Face Transformers (DistilBERT), NLTK VADER, SciPy, Pandas 3.0, NumPy 2.4.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• LLM &amp; Generative APIs: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   Groq Cloud (LLaMA-3.3-70b), NVIDIA Cloud Catalog (Flux/SDXL), Cohere Command-R+, Pollinations AI.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• Computer Vision: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   Tesseract OCR 5.x, Pillow 12.2, difflib fuzzy SequenceMatcher.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• Frontend &amp; Visuals: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   React 19.2, TypeScript 5.x, Vite 8.3, HTML5 Canvas API, Lucide Icons, Custom CSS tokens.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• Database Infrastructure: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   Neon PostgreSQL Serverless (pooled), pgvector, zero-disk bytea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STAGE 04 : 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926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18CF8"/>
                </a:solidFill>
              </a:defRPr>
            </a:pPr>
            <a:r>
              <a:t>AdVantage OS |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Empirical Results, ML Benchmark &amp; Operational Gains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Validation across 13,825 test samples, sub-second inference latencies, and real-world SME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583680" cy="310896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trend_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40080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160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Figure 2: Empirical Performance of TrendForecastingModel_v2 (30-day 95% CI &amp; Benchmark Gains)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6583680" cy="1828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HOLD-OUT TEST BENCHMARK (13,825 SAMPLES)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4892040"/>
          <a:ext cx="6309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55448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Naive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AdVantage OS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Performance Gain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CBD5E1"/>
                          </a:solidFill>
                        </a:defRPr>
                      </a:pPr>
                      <a:r>
                        <a:t>Mean Absolute Error (MAE)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BD5E1"/>
                          </a:solidFill>
                        </a:defRPr>
                      </a:pPr>
                      <a:r>
                        <a:t>0.3326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0.2456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+26.15% Improvement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CBD5E1"/>
                          </a:solidFill>
                        </a:defRPr>
                      </a:pPr>
                      <a:r>
                        <a:t>R² Score (Variance Explained)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BD5E1"/>
                          </a:solidFill>
                        </a:defRPr>
                      </a:pPr>
                      <a:r>
                        <a:t>0.9927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0.9971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</a:defRPr>
                      </a:pPr>
                      <a:r>
                        <a:t>Near-Optimal Fit (0.997)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98079" y="1371600"/>
            <a:ext cx="3931920" cy="237744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7" y="1463040"/>
            <a:ext cx="371246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SYSTEM THROUGHPUT &amp; SCALABILITY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Computational Speed &amp; Latency Profiling</a:t>
            </a:r>
          </a:p>
          <a:p>
            <a:pPr>
              <a:defRPr sz="850" b="1">
                <a:solidFill>
                  <a:srgbClr val="F8FAFC"/>
                </a:solidFill>
              </a:defRPr>
            </a:pPr>
            <a:r>
              <a:t>• Marketing Ad Copy Synthesis (Groq LLaMA-3.3-70b):  [&lt; 1.0 second]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Sub-second generation of promotional captions, tone variants, and hashtag bundles.</a:t>
            </a:r>
          </a:p>
          <a:p>
            <a:pPr>
              <a:defRPr sz="850" b="1">
                <a:solidFill>
                  <a:srgbClr val="F8FAFC"/>
                </a:solidFill>
              </a:defRPr>
            </a:pPr>
            <a:r>
              <a:t>• Product Visual Synthesis (NVIDIA SDXL / Flux):  [&lt; 4.5 seconds]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High-fidelity photorealistic ad visuals synthesized on-demand with zero local GPU load.</a:t>
            </a:r>
          </a:p>
          <a:p>
            <a:pPr>
              <a:defRPr sz="850" b="1">
                <a:solidFill>
                  <a:srgbClr val="F8FAFC"/>
                </a:solidFill>
              </a:defRPr>
            </a:pPr>
            <a:r>
              <a:t>• Camera Receipt OCR &amp; Fuzzy Reconciliation:  [&lt; 2.2 seconds]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Complete end-to-end receipt parsing, invoice regex parsing, and catalog stock update.</a:t>
            </a:r>
          </a:p>
          <a:p>
            <a:pPr>
              <a:defRPr sz="850" b="1">
                <a:solidFill>
                  <a:srgbClr val="F8FAFC"/>
                </a:solidFill>
              </a:defRPr>
            </a:pPr>
            <a:r>
              <a:t>• Zero-Disk Serverless DB Model Hydration:  [&lt; 350 ms]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Deserializes 894 KB model weights from Neon PostgreSQL bytea table directly into 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886200"/>
            <a:ext cx="3931920" cy="2514600"/>
          </a:xfrm>
          <a:prstGeom prst="roundRect">
            <a:avLst/>
          </a:prstGeom>
          <a:solidFill>
            <a:srgbClr val="19223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3977640"/>
            <a:ext cx="371246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COMMERCIAL EFFICACY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Real-World SME Business Impact</a:t>
            </a:r>
          </a:p>
          <a:p>
            <a:pPr>
              <a:defRPr sz="850" b="1">
                <a:solidFill>
                  <a:srgbClr val="34D399"/>
                </a:solidFill>
              </a:defRPr>
            </a:pPr>
            <a:r>
              <a:t>✔ Stockout Risk Reduction: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Simulations indicate up to an 85% reduction in stockout cascades on viral products due to proactive ROP warnings and lead-time buffering.</a:t>
            </a:r>
          </a:p>
          <a:p>
            <a:pPr>
              <a:defRPr sz="850" b="1">
                <a:solidFill>
                  <a:srgbClr val="34D399"/>
                </a:solidFill>
              </a:defRPr>
            </a:pPr>
            <a:r>
              <a:t>✔ Elimination of Dead Inventory: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TSB demand decay suppresses over-ordering on fading trends, preventing cash lockup in unsellable stock.</a:t>
            </a:r>
          </a:p>
          <a:p>
            <a:pPr>
              <a:defRPr sz="850" b="1">
                <a:solidFill>
                  <a:srgbClr val="34D399"/>
                </a:solidFill>
              </a:defRPr>
            </a:pPr>
            <a:r>
              <a:t>✔ Marketing Arbitrage &amp; Capital Protection: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Automatic ad suppression on low-stock SKUs prevents negative-ROI ad spend; creative design agency costs drop from $500+/campaign to near $0.</a:t>
            </a:r>
          </a:p>
          <a:p>
            <a:pPr>
              <a:defRPr sz="850" b="1">
                <a:solidFill>
                  <a:srgbClr val="34D399"/>
                </a:solidFill>
              </a:defRPr>
            </a:pPr>
            <a:r>
              <a:t>✔ Operational Labor Savings:</a:t>
            </a:r>
          </a:p>
          <a:p>
            <a:pPr>
              <a:defRPr sz="780">
                <a:solidFill>
                  <a:srgbClr val="CBD5E1"/>
                </a:solidFill>
              </a:defRPr>
            </a:pPr>
            <a:r>
              <a:t>   Replaces 10+ hours per week of manual inventory ledger entry and trend guesswork with automated OCR and dashboard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